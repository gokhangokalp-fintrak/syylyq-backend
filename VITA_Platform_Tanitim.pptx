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0" y="1371600"/>
            <a:ext cx="3931920" cy="20116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0" y="1554480"/>
            <a:ext cx="39319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200" b="1">
                <a:solidFill>
                  <a:srgbClr val="FFFFFF"/>
                </a:solidFill>
                <a:latin typeface="Arial Black"/>
              </a:defRPr>
            </a:pPr>
            <a:r>
              <a:t>VITA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651760"/>
            <a:ext cx="393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B2DFDB"/>
                </a:solidFill>
                <a:latin typeface="Calibri"/>
              </a:defRPr>
            </a:pPr>
            <a:r>
              <a:t>S U P E R A P 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8503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26C6DA"/>
                </a:solidFill>
                <a:latin typeface="Georgia"/>
              </a:defRPr>
            </a:pPr>
            <a:r>
              <a:t>Yaşa. Gözlemle. Kazanç Sağla.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754880"/>
            <a:ext cx="8503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6B7B8D"/>
                </a:solidFill>
                <a:latin typeface="Calibri"/>
              </a:defRPr>
            </a:pPr>
            <a:r>
              <a:t>Token Ekonomisi ile Fiziksel Hizmetleri Dijitalleştiren</a:t>
            </a:r>
            <a:br/>
            <a:r>
              <a:t>Çok Modüllü Süper Uygulama Platformu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8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Platform Tanıtım Sunumu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64465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6B7B8D"/>
                </a:solidFill>
                <a:latin typeface="Calibri"/>
              </a:defRPr>
            </a:pPr>
            <a:r>
              <a:t>Gizli &amp; Özel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2/28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1A2E"/>
                </a:solidFill>
                <a:latin typeface="Georgia"/>
              </a:defRPr>
            </a:pPr>
            <a:r>
              <a:t>İçindekiler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37160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41732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37160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Problem &amp; Çözüm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64208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Pazar ihtiyacı ve VITA yaklaşımı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24028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Platform Genel Bakış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487168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Modüller ve ekosistem yapısı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06324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1752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Token Ekonomisi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310128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Kazan, biriktir, harca döngüsü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88620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84048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Sertifika Sistemi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133088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Evrensel hediye çekleri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70916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66344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Gözlemle Modülü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956048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Gizli müşteri / denetim sistemi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53212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48640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NearbyMe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779008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Konum bazlı sosyal keşif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0" y="141732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137160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VITA İş İlanları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1664208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Gig ekonomisi pazaryeri</a:t>
            </a:r>
          </a:p>
        </p:txBody>
      </p:sp>
      <p:sp>
        <p:nvSpPr>
          <p:cNvPr id="26" name="Oval 25"/>
          <p:cNvSpPr/>
          <p:nvPr/>
        </p:nvSpPr>
        <p:spPr>
          <a:xfrm>
            <a:off x="6217920" y="224028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19456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Grup Hediye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487168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Kolektif hediye organizasyonu</a:t>
            </a:r>
          </a:p>
        </p:txBody>
      </p:sp>
      <p:sp>
        <p:nvSpPr>
          <p:cNvPr id="29" name="Oval 28"/>
          <p:cNvSpPr/>
          <p:nvPr/>
        </p:nvSpPr>
        <p:spPr>
          <a:xfrm>
            <a:off x="6217920" y="306324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01752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İşletme Ekosistemi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310128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Merchant panel &amp; yerleşim</a:t>
            </a:r>
          </a:p>
        </p:txBody>
      </p:sp>
      <p:sp>
        <p:nvSpPr>
          <p:cNvPr id="32" name="Oval 31"/>
          <p:cNvSpPr/>
          <p:nvPr/>
        </p:nvSpPr>
        <p:spPr>
          <a:xfrm>
            <a:off x="6217920" y="388620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384048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İş Modeli &amp; Gelir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133088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Komisyon ve gelir kaynakları</a:t>
            </a:r>
          </a:p>
        </p:txBody>
      </p:sp>
      <p:sp>
        <p:nvSpPr>
          <p:cNvPr id="35" name="Oval 34"/>
          <p:cNvSpPr/>
          <p:nvPr/>
        </p:nvSpPr>
        <p:spPr>
          <a:xfrm>
            <a:off x="6217920" y="470916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466344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Teknik Altyapı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956048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Mimari ve güvenlik</a:t>
            </a:r>
          </a:p>
        </p:txBody>
      </p:sp>
      <p:sp>
        <p:nvSpPr>
          <p:cNvPr id="38" name="Oval 37"/>
          <p:cNvSpPr/>
          <p:nvPr/>
        </p:nvSpPr>
        <p:spPr>
          <a:xfrm>
            <a:off x="6217920" y="553212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548640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Yol Haritası &amp; Vizyon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5779008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Büyüme stratejisi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3/28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9688"/>
                </a:solidFill>
                <a:latin typeface="Calibri"/>
              </a:defRPr>
            </a:pPr>
            <a:r>
              <a:t>01  PROBLEM &amp; ÇÖZÜM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1A1A2E"/>
                </a:solidFill>
                <a:latin typeface="Georgia"/>
              </a:defRPr>
            </a:pPr>
            <a:r>
              <a:t>Fiziksel Hizmet Sektöründe</a:t>
            </a:r>
            <a:br/>
            <a:r>
              <a:t>Dijital Dönüşüm Eksikliği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1206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54864" cy="20116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Parçalı Deneyim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Hediye kartları, sadakat programları ve hizmet değerlendirmeleri ayrı platformlarda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70048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68680" y="2871216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Her işletme kendi sistemini kuruyor, kullanıcı 10+ uygulama kullanıyor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389120"/>
            <a:ext cx="51206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389120"/>
            <a:ext cx="54864" cy="20116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52628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Değer Kaybı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846320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Hediye kartlarının %30'u kullanılmadan süresi doluyor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047488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68680" y="5248656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Tüketiciler satın aldıkları değeri kaybediyor, işletmeler gelir fırsatını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011680"/>
            <a:ext cx="51206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011680"/>
            <a:ext cx="54864" cy="20116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14884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Güven Sorunu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468880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Hizmet kalitesi önceden bilinemiyor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670048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6446520" y="2871216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Tüketici deneyimlemeden karar veriyor, işletme geri bildirim alamıyor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389120"/>
            <a:ext cx="51206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4389120"/>
            <a:ext cx="54864" cy="20116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52628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İş Gücü Boşluğu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846320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Esnek çalışma ve mikro görevler için merkezi platform yok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047488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6446520" y="5248656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Gig ekonomisi Türkiye'de henüz organize değil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4/28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6C6DA"/>
                </a:solidFill>
                <a:latin typeface="Calibri"/>
              </a:defRPr>
            </a:pPr>
            <a:r>
              <a:t>01  PROBLEM &amp; ÇÖZÜM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VITA: Tek Platform, Tüm Hizmetler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Token ekonomisi ile fiziksel hizmetleri birleştiren, hem tüketiciyi hem işletmeyi güçlendiren süper uygulama.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560320" cy="3840480"/>
          </a:xfrm>
          <a:prstGeom prst="roundRect">
            <a:avLst/>
          </a:prstGeom>
          <a:solidFill>
            <a:srgbClr val="12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377440"/>
            <a:ext cx="256032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09688"/>
                </a:solidFill>
                <a:latin typeface="Calibri"/>
              </a:defRPr>
            </a:pPr>
            <a:r>
              <a:t>Evrensel Sertifika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219456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Her işletmede geçerli dijital hediye çekleri.</a:t>
            </a:r>
            <a:br/>
            <a:r>
              <a:t>Parçalı kart sistemi yerine tek evrensel çözüm.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377440"/>
            <a:ext cx="2560320" cy="3840480"/>
          </a:xfrm>
          <a:prstGeom prst="roundRect">
            <a:avLst/>
          </a:prstGeom>
          <a:solidFill>
            <a:srgbClr val="12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377440"/>
            <a:ext cx="2560320" cy="54864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74320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6C6DA"/>
                </a:solidFill>
                <a:latin typeface="Calibri"/>
              </a:defRPr>
            </a:pPr>
            <a:r>
              <a:t>Token Ekonomisi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291840"/>
            <a:ext cx="219456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Kazan, biriktir, harca. Referans, görev, cashback</a:t>
            </a:r>
            <a:br/>
            <a:r>
              <a:t>ile token kazan, QR ile harca.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377440"/>
            <a:ext cx="2560320" cy="3840480"/>
          </a:xfrm>
          <a:prstGeom prst="roundRect">
            <a:avLst/>
          </a:prstGeom>
          <a:solidFill>
            <a:srgbClr val="12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377440"/>
            <a:ext cx="2560320" cy="54864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74320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B300"/>
                </a:solidFill>
                <a:latin typeface="Calibri"/>
              </a:defRPr>
            </a:pPr>
            <a:r>
              <a:t>Gözlemle (Mystery Shopping)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291840"/>
            <a:ext cx="219456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Gizli müşteri denetimleri ile hizmet kalitesini</a:t>
            </a:r>
            <a:br/>
            <a:r>
              <a:t>ölç, kullanıcıları ödüllendir.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377440"/>
            <a:ext cx="2560320" cy="3840480"/>
          </a:xfrm>
          <a:prstGeom prst="roundRect">
            <a:avLst/>
          </a:prstGeom>
          <a:solidFill>
            <a:srgbClr val="12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2377440"/>
            <a:ext cx="25603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274320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NearbyMe Sosyal Keşif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291840"/>
            <a:ext cx="219456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Çevrenizdeki insanları keşfedin, bağlantı</a:t>
            </a:r>
            <a:br/>
            <a:r>
              <a:t>kurun, networking yapın.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5/28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9688"/>
                </a:solidFill>
                <a:latin typeface="Calibri"/>
              </a:defRPr>
            </a:pPr>
            <a:r>
              <a:t>02  PLATFORM GENEL BAKIŞ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1A2E"/>
                </a:solidFill>
                <a:latin typeface="Georgia"/>
              </a:defRPr>
            </a:pPr>
            <a:r>
              <a:t>VITA Ekosistemi</a:t>
            </a:r>
          </a:p>
        </p:txBody>
      </p:sp>
      <p:sp>
        <p:nvSpPr>
          <p:cNvPr id="5" name="Oval 4"/>
          <p:cNvSpPr/>
          <p:nvPr/>
        </p:nvSpPr>
        <p:spPr>
          <a:xfrm>
            <a:off x="4937760" y="2286000"/>
            <a:ext cx="2286000" cy="22860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VITA</a:t>
            </a:r>
            <a:br/>
            <a:r>
              <a:t>Token</a:t>
            </a:r>
            <a:br/>
            <a:r>
              <a:t>Ekonomisi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645920"/>
            <a:ext cx="2011680" cy="1188720"/>
          </a:xfrm>
          <a:prstGeom prst="round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Sertifika</a:t>
            </a:r>
            <a:br/>
            <a:r>
              <a:t>Sistemi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1645920"/>
            <a:ext cx="2011680" cy="11887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NearbyMe</a:t>
            </a:r>
            <a:br/>
            <a:r>
              <a:t>Sosyal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389120"/>
            <a:ext cx="2011680" cy="1188720"/>
          </a:xfrm>
          <a:prstGeom prst="round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Gözlemle</a:t>
            </a:r>
            <a:br/>
            <a:r>
              <a:t>Denetim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4389120"/>
            <a:ext cx="2011680" cy="11887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İş İlanları</a:t>
            </a:r>
            <a:br/>
            <a:r>
              <a:t>Gig Ekonomisi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5303520"/>
            <a:ext cx="2011680" cy="118872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Grup</a:t>
            </a:r>
            <a:br/>
            <a:r>
              <a:t>Hediye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1097280"/>
            <a:ext cx="2011680" cy="11887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Referans</a:t>
            </a:r>
            <a:br/>
            <a:r>
              <a:t>Sistemi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6/28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9688"/>
                </a:solidFill>
                <a:latin typeface="Calibri"/>
              </a:defRPr>
            </a:pPr>
            <a:r>
              <a:t>02  PLATFORM GENEL BAKIŞ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1A2E"/>
                </a:solidFill>
                <a:latin typeface="Georgia"/>
              </a:defRPr>
            </a:pPr>
            <a:r>
              <a:t>Kullanıcı Yolculuğu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1828800"/>
            <a:ext cx="640080" cy="6400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0240" y="2057400"/>
            <a:ext cx="1005840" cy="36576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t>Kayıt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08960"/>
            <a:ext cx="20116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291840"/>
            <a:ext cx="173736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Telefon ile kayıt</a:t>
            </a:r>
            <a:br/>
            <a:r>
              <a:t>Referans kodu gir</a:t>
            </a:r>
            <a:br/>
            <a:r>
              <a:t>VITA ID al</a:t>
            </a:r>
          </a:p>
        </p:txBody>
      </p:sp>
      <p:sp>
        <p:nvSpPr>
          <p:cNvPr id="10" name="Oval 9"/>
          <p:cNvSpPr/>
          <p:nvPr/>
        </p:nvSpPr>
        <p:spPr>
          <a:xfrm>
            <a:off x="3383280" y="1828800"/>
            <a:ext cx="640080" cy="6400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2057400"/>
            <a:ext cx="1005840" cy="36576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265176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t>Keşfet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3108960"/>
            <a:ext cx="20116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3291840"/>
            <a:ext cx="173736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İşletmeleri keşfet</a:t>
            </a:r>
            <a:br/>
            <a:r>
              <a:t>Sertifika satın al</a:t>
            </a:r>
            <a:br/>
            <a:r>
              <a:t>NearbyMe ile tanış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0" y="1828800"/>
            <a:ext cx="640080" cy="6400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057400"/>
            <a:ext cx="1005840" cy="36576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265176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t>Kazan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3108960"/>
            <a:ext cx="20116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291840"/>
            <a:ext cx="173736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Referans paylaş</a:t>
            </a:r>
            <a:br/>
            <a:r>
              <a:t>Görev tamamla</a:t>
            </a:r>
            <a:br/>
            <a:r>
              <a:t>Cashback kazan</a:t>
            </a:r>
          </a:p>
        </p:txBody>
      </p:sp>
      <p:sp>
        <p:nvSpPr>
          <p:cNvPr id="20" name="Oval 19"/>
          <p:cNvSpPr/>
          <p:nvPr/>
        </p:nvSpPr>
        <p:spPr>
          <a:xfrm>
            <a:off x="7955280" y="1828800"/>
            <a:ext cx="640080" cy="6400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2057400"/>
            <a:ext cx="1005840" cy="36576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265176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t>Harca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3108960"/>
            <a:ext cx="20116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3291840"/>
            <a:ext cx="173736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QR ile ödeme yap</a:t>
            </a:r>
            <a:br/>
            <a:r>
              <a:t>Sertifika kullan</a:t>
            </a:r>
            <a:br/>
            <a:r>
              <a:t>Token dönüştür</a:t>
            </a:r>
          </a:p>
        </p:txBody>
      </p:sp>
      <p:sp>
        <p:nvSpPr>
          <p:cNvPr id="25" name="Oval 24"/>
          <p:cNvSpPr/>
          <p:nvPr/>
        </p:nvSpPr>
        <p:spPr>
          <a:xfrm>
            <a:off x="10241280" y="1828800"/>
            <a:ext cx="640080" cy="6400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65176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t>Büyüt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3108960"/>
            <a:ext cx="20116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38360" y="3291840"/>
            <a:ext cx="173736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Arkadaş davet et</a:t>
            </a:r>
            <a:br/>
            <a:r>
              <a:t>Liderlik tablosu</a:t>
            </a:r>
            <a:br/>
            <a:r>
              <a:t>Ödül kutusu aç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7/28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6C6DA"/>
                </a:solidFill>
                <a:latin typeface="Calibri"/>
              </a:defRPr>
            </a:pPr>
            <a:r>
              <a:t>03  TOKEN EKONOMİSİ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VITA Token Ekonomisi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Kullanıcıları ödüllendiren, işletmeleri büyüten, ekosistemi besleyen döngüsel ekonomi.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2ECC71"/>
                </a:solidFill>
                <a:latin typeface="Calibri"/>
              </a:defRPr>
            </a:pPr>
            <a:r>
              <a:t>KAZAN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51760"/>
            <a:ext cx="5029200" cy="777240"/>
          </a:xfrm>
          <a:prstGeom prst="roundRect">
            <a:avLst/>
          </a:prstGeom>
          <a:solidFill>
            <a:srgbClr val="12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651760"/>
            <a:ext cx="54864" cy="7772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2491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Referans Paylaş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Arkadaşını davet et, aktivasyon başına 50+ token kazan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20440"/>
            <a:ext cx="5029200" cy="777240"/>
          </a:xfrm>
          <a:prstGeom prst="roundRect">
            <a:avLst/>
          </a:prstGeom>
          <a:solidFill>
            <a:srgbClr val="12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520440"/>
            <a:ext cx="54864" cy="7772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9359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Cashback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862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Sertifika alışverişlerinde %3 otomatik token iade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89120"/>
            <a:ext cx="5029200" cy="777240"/>
          </a:xfrm>
          <a:prstGeom prst="roundRect">
            <a:avLst/>
          </a:prstGeom>
          <a:solidFill>
            <a:srgbClr val="12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389120"/>
            <a:ext cx="54864" cy="7772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6227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Gözlemle Görevleri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548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İşletme denetim görevi tamamla, token ödül 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257800"/>
            <a:ext cx="5029200" cy="777240"/>
          </a:xfrm>
          <a:prstGeom prst="roundRect">
            <a:avLst/>
          </a:prstGeom>
          <a:solidFill>
            <a:srgbClr val="12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257800"/>
            <a:ext cx="54864" cy="7772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33095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Günlük Aktivite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235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Uygulamayı aç, etkileşim kur, günlük 50 tokena kadar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B300"/>
                </a:solidFill>
                <a:latin typeface="Calibri"/>
              </a:defRPr>
            </a:pPr>
            <a:r>
              <a:t>HARCA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651760"/>
            <a:ext cx="5029200" cy="777240"/>
          </a:xfrm>
          <a:prstGeom prst="roundRect">
            <a:avLst/>
          </a:prstGeom>
          <a:solidFill>
            <a:srgbClr val="12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2651760"/>
            <a:ext cx="54864" cy="7772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272491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QR ile Ödeme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0175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İşletmede QR göster, token ile ödeme yap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520440"/>
            <a:ext cx="5029200" cy="777240"/>
          </a:xfrm>
          <a:prstGeom prst="roundRect">
            <a:avLst/>
          </a:prstGeom>
          <a:solidFill>
            <a:srgbClr val="12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3520440"/>
            <a:ext cx="54864" cy="7772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359359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Sertifika Dönüştür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8862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Hediye çekini tokene çevir, parça parça harca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389120"/>
            <a:ext cx="5029200" cy="777240"/>
          </a:xfrm>
          <a:prstGeom prst="roundRect">
            <a:avLst/>
          </a:prstGeom>
          <a:solidFill>
            <a:srgbClr val="12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4389120"/>
            <a:ext cx="54864" cy="7772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446227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İş İlanı Ödemesi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7548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Mikro görev ödemelerini token ile al/ver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8/28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9688"/>
                </a:solidFill>
                <a:latin typeface="Calibri"/>
              </a:defRPr>
            </a:pPr>
            <a:r>
              <a:t>03  TOKEN EKONOMİSİ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1A2E"/>
                </a:solidFill>
                <a:latin typeface="Georgia"/>
              </a:defRPr>
            </a:pPr>
            <a:r>
              <a:t>Token Akış Döngüsü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27432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274320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009688"/>
                </a:solidFill>
                <a:latin typeface="Calibri"/>
              </a:defRPr>
            </a:pPr>
            <a:r>
              <a:t>KULLANICI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34640"/>
            <a:ext cx="23774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Sertifika satın al</a:t>
            </a:r>
            <a:br/>
            <a:r>
              <a:t>Görev tamamla</a:t>
            </a:r>
            <a:br/>
            <a:r>
              <a:t>Referans paylaş</a:t>
            </a:r>
            <a:br/>
            <a:r>
              <a:t>Günlük aktivite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286000"/>
            <a:ext cx="27432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2286000"/>
            <a:ext cx="2743200" cy="54864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B300"/>
                </a:solidFill>
                <a:latin typeface="Calibri"/>
              </a:defRPr>
            </a:pPr>
            <a:r>
              <a:t>VITA TOKEN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834640"/>
            <a:ext cx="23774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Kazanım: +50, +100, %3 cashback</a:t>
            </a:r>
            <a:br/>
            <a:r>
              <a:t>Harcama: QR ödeme</a:t>
            </a:r>
            <a:br/>
            <a:r>
              <a:t>Dönüşüm: Sertifika → Token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286000"/>
            <a:ext cx="27432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2286000"/>
            <a:ext cx="2743200" cy="54864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46888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26C6DA"/>
                </a:solidFill>
                <a:latin typeface="Calibri"/>
              </a:defRPr>
            </a:pPr>
            <a:r>
              <a:t>İŞLETME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834640"/>
            <a:ext cx="23774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QR ile token kabul et</a:t>
            </a:r>
            <a:br/>
            <a:r>
              <a:t>Komisyon öde (%5-7)</a:t>
            </a:r>
            <a:br/>
            <a:r>
              <a:t>T+1 hesap yerleşimi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2926080"/>
            <a:ext cx="73152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2926080"/>
            <a:ext cx="731520" cy="36576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Temel Mekanikler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029200"/>
            <a:ext cx="34747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029200"/>
            <a:ext cx="54864" cy="1188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166360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QR Güvenlik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486400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HMAC-SHA256 imzalı, 5 dakika geçerli, tekrar kullanım koruması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19" y="5029200"/>
            <a:ext cx="34747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19" y="5029200"/>
            <a:ext cx="54864" cy="1188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19" y="5166360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Atomik İşlemler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19" y="5486400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Bakiye kontrolü, token düşümü, settlement kaydı tek transaction'da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59" y="5029200"/>
            <a:ext cx="34747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59" y="5029200"/>
            <a:ext cx="54864" cy="1188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59" y="5166360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Anti-Fraud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59" y="5486400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Günlük limit, cooldown süresi, anomali tespiti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9/28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9688"/>
                </a:solidFill>
                <a:latin typeface="Calibri"/>
              </a:defRPr>
            </a:pPr>
            <a:r>
              <a:t>03  TOKEN EKONOMİSİ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1A2E"/>
                </a:solidFill>
                <a:latin typeface="Georgia"/>
              </a:defRPr>
            </a:pPr>
            <a:r>
              <a:t>Referans &amp; Büyüme Motoru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Aktivasyon Bazlı Ödül Kademeleri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0292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457200" cy="5486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21408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3+ aktivasyon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121408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Başlangıç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21408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1">
                <a:solidFill>
                  <a:srgbClr val="1A1A2E"/>
                </a:solidFill>
                <a:latin typeface="Calibri"/>
              </a:defRPr>
            </a:pPr>
            <a:r>
              <a:t>500 Token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97480"/>
            <a:ext cx="50292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97480"/>
            <a:ext cx="731520" cy="5486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07208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5+ aktivasyon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807208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Aktivist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807208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1">
                <a:solidFill>
                  <a:srgbClr val="1A1A2E"/>
                </a:solidFill>
                <a:latin typeface="Calibri"/>
              </a:defRPr>
            </a:pPr>
            <a:r>
              <a:t>1.500 Token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83280"/>
            <a:ext cx="50292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383280"/>
            <a:ext cx="1188720" cy="54864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493008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10+ aktivasyon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493008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Büyükelçi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493008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1">
                <a:solidFill>
                  <a:srgbClr val="1A1A2E"/>
                </a:solidFill>
                <a:latin typeface="Calibri"/>
              </a:defRPr>
            </a:pPr>
            <a:r>
              <a:t>5.000 Token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069080"/>
            <a:ext cx="50292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069080"/>
            <a:ext cx="1828800" cy="54864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178808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25+ aktivasyon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178808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Lider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178808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1">
                <a:solidFill>
                  <a:srgbClr val="1A1A2E"/>
                </a:solidFill>
                <a:latin typeface="Calibri"/>
              </a:defRPr>
            </a:pPr>
            <a:r>
              <a:t>15.000 Token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754880"/>
            <a:ext cx="50292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754880"/>
            <a:ext cx="2743200" cy="5486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864608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50+ aktivasyon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864608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Elçi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864608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1">
                <a:solidFill>
                  <a:srgbClr val="1A1A2E"/>
                </a:solidFill>
                <a:latin typeface="Calibri"/>
              </a:defRPr>
            </a:pPr>
            <a:r>
              <a:t>35.000 Token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440680"/>
            <a:ext cx="50292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440680"/>
            <a:ext cx="5029200" cy="5486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550408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100+ aktivasyon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550408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VITA Master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5550408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75.000 Token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Gizem Kutusu Sistemi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Her 3 aktivasyonda 1 gizem kutusu kazanılır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2651760"/>
            <a:ext cx="502920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2651760"/>
            <a:ext cx="54864" cy="7772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9400" y="272491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ECC71"/>
                </a:solidFill>
                <a:latin typeface="Calibri"/>
              </a:defRPr>
            </a:pPr>
            <a:r>
              <a:t>Yaygın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301752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100-250 Token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2834640"/>
            <a:ext cx="1005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800" b="1">
                <a:solidFill>
                  <a:srgbClr val="2ECC71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3611880"/>
            <a:ext cx="502920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0" y="3611880"/>
            <a:ext cx="54864" cy="77724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29400" y="368503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6C6DA"/>
                </a:solidFill>
                <a:latin typeface="Calibri"/>
              </a:defRPr>
            </a:pPr>
            <a:r>
              <a:t>Nadir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29400" y="397764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2x Bonus / %10 İndirim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3794760"/>
            <a:ext cx="1005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800" b="1">
                <a:solidFill>
                  <a:srgbClr val="26C6DA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4572000"/>
            <a:ext cx="502920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00800" y="4572000"/>
            <a:ext cx="54864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29400" y="464515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7C3AED"/>
                </a:solidFill>
                <a:latin typeface="Calibri"/>
              </a:defRPr>
            </a:pPr>
            <a:r>
              <a:t>Epik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29400" y="493776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1.000 Token / Premium Görev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4754880"/>
            <a:ext cx="1005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800" b="1">
                <a:solidFill>
                  <a:srgbClr val="7C3AED"/>
                </a:solidFill>
                <a:latin typeface="Calibri"/>
              </a:defRPr>
            </a:pPr>
            <a:r>
              <a:t>15%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0" y="5532120"/>
            <a:ext cx="502920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00800" y="5532120"/>
            <a:ext cx="54864" cy="7772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29400" y="560527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B300"/>
                </a:solidFill>
                <a:latin typeface="Calibri"/>
              </a:defRPr>
            </a:pPr>
            <a:r>
              <a:t>Efsanevi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29400" y="589788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5.000 Token / 10.000₺ Sertifika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41280" y="5715000"/>
            <a:ext cx="1005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800" b="1">
                <a:solidFill>
                  <a:srgbClr val="FFB300"/>
                </a:solidFill>
                <a:latin typeface="Calibri"/>
              </a:defRPr>
            </a:pPr>
            <a:r>
              <a:t>5%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566928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Influencer Kodları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603504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Özel bonuslu kampanya kodları (ör. HADISE2026) ile viral büyüme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10/28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9688"/>
                </a:solidFill>
                <a:latin typeface="Calibri"/>
              </a:defRPr>
            </a:pPr>
            <a:r>
              <a:t>04  SERTİFİKA SİSTEMİ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1A2E"/>
                </a:solidFill>
                <a:latin typeface="Georgia"/>
              </a:defRPr>
            </a:pPr>
            <a:r>
              <a:t>VITA Evrensel Sertifika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6B7B8D"/>
                </a:solidFill>
                <a:latin typeface="Calibri"/>
              </a:defRPr>
            </a:pPr>
            <a:r>
              <a:t>Her yerde geçerli, güvenli, dijital hediye çeki sistemi. Fiziksel hizmetler için Apple IAP gerektirmez.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25603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17320" y="1874520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t>Satın 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21945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B7B8D"/>
                </a:solidFill>
                <a:latin typeface="Calibri"/>
              </a:defRPr>
            </a:pPr>
            <a:r>
              <a:t>İşletme seç veya evrensel</a:t>
            </a:r>
            <a:br/>
            <a:r>
              <a:t>sertifika oluştur</a:t>
            </a:r>
            <a:br/>
            <a:r>
              <a:t>₺10 - ₺10.000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3108960"/>
            <a:ext cx="228600" cy="36576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7560" y="2103120"/>
            <a:ext cx="25603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97680" y="1874520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42316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t>Hediye 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926080"/>
            <a:ext cx="21945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B7B8D"/>
                </a:solidFill>
                <a:latin typeface="Calibri"/>
              </a:defRPr>
            </a:pPr>
            <a:r>
              <a:t>Alıcıya telefon numarası</a:t>
            </a:r>
            <a:br/>
            <a:r>
              <a:t>ile gönder. QR kodu</a:t>
            </a:r>
            <a:br/>
            <a:r>
              <a:t>otomatik oluşturulur.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3108960"/>
            <a:ext cx="228600" cy="36576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2103120"/>
            <a:ext cx="25603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78040" y="1874520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2316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t>Kullan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926080"/>
            <a:ext cx="21945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B7B8D"/>
                </a:solidFill>
                <a:latin typeface="Calibri"/>
              </a:defRPr>
            </a:pPr>
            <a:r>
              <a:t>İşletmede QR göster,</a:t>
            </a:r>
            <a:br/>
            <a:r>
              <a:t>işletme tarar, onaylar.</a:t>
            </a:r>
            <a:br/>
            <a:r>
              <a:t>Anında kullanılır.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23960" y="3108960"/>
            <a:ext cx="228600" cy="36576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98280" y="2103120"/>
            <a:ext cx="25603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58400" y="1874520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42316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t>Yerleşim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926080"/>
            <a:ext cx="21945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B7B8D"/>
                </a:solidFill>
                <a:latin typeface="Calibri"/>
              </a:defRPr>
            </a:pPr>
            <a:r>
              <a:t>T+1 gün içinde işletme</a:t>
            </a:r>
            <a:br/>
            <a:r>
              <a:t>hesabına net tutar</a:t>
            </a:r>
            <a:br/>
            <a:r>
              <a:t>otomatik aktarılır.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846320"/>
            <a:ext cx="25603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846320"/>
            <a:ext cx="54864" cy="128016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98348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QR Güvenliği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30352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HMAC-SHA256 imzalı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504688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Manipülasyon imkansız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7560" y="4846320"/>
            <a:ext cx="25603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37560" y="4846320"/>
            <a:ext cx="54864" cy="128016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498348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Çoklu Format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530352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İşletmeye özel veya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5504688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evrensel sertifika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846320"/>
            <a:ext cx="25603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4846320"/>
            <a:ext cx="54864" cy="128016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98348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%3 Cashback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30352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Her satın almada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504688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otomatik token iadesi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98280" y="4846320"/>
            <a:ext cx="25603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98280" y="4846320"/>
            <a:ext cx="54864" cy="128016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0" y="498348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365 Gün Geçerlilik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530352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Uzun süreli kullanım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5504688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esnek zamanlama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11/28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9688"/>
                </a:solidFill>
                <a:latin typeface="Calibri"/>
              </a:defRPr>
            </a:pPr>
            <a:r>
              <a:t>04  SERTİFİKA SİSTEMİ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1A2E"/>
                </a:solidFill>
                <a:latin typeface="Georgia"/>
              </a:defRPr>
            </a:pPr>
            <a:r>
              <a:t>Sertifika Teknik Altyapısı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0292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QR Kod Yapısı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  Kod Formatı: SYY-XXXX-XXXX-XXXX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9748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  İmza: HMAC-SHA256 (cardId + code + secret)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  Payload: JSON {cardId, code, signature}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3756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  Doğrulama: 2 adımlı (verify → confirm)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5760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  Race Condition: Atomik transaction koruması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97764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  Çift kullanım: Anlık status kontrolü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45920"/>
            <a:ext cx="50292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828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Komisyon Modeli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37744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Örnek: ₺500 Sertifika Kullanımı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9260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Brüt Tutar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92608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500" b="1">
                <a:solidFill>
                  <a:srgbClr val="1A1A2E"/>
                </a:solidFill>
                <a:latin typeface="Calibri"/>
              </a:defRPr>
            </a:pPr>
            <a:r>
              <a:t>₺500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2918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Komisyon Oranı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329184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500" b="1">
                <a:solidFill>
                  <a:srgbClr val="6B7B8D"/>
                </a:solidFill>
                <a:latin typeface="Calibri"/>
              </a:defRPr>
            </a:pPr>
            <a:r>
              <a:t>%7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6576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Komisyon Tutarı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365760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500" b="1">
                <a:solidFill>
                  <a:srgbClr val="FF6B6B"/>
                </a:solidFill>
                <a:latin typeface="Calibri"/>
              </a:defRPr>
            </a:pPr>
            <a:r>
              <a:t>₺35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3977640"/>
            <a:ext cx="4114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40233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İşletmeye Net Ödeme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402336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500" b="1">
                <a:solidFill>
                  <a:srgbClr val="2ECC71"/>
                </a:solidFill>
                <a:latin typeface="Calibri"/>
              </a:defRPr>
            </a:pPr>
            <a:r>
              <a:t>₺465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3891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VITA Geliri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43891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500" b="1">
                <a:solidFill>
                  <a:srgbClr val="009688"/>
                </a:solidFill>
                <a:latin typeface="Calibri"/>
              </a:defRPr>
            </a:pPr>
            <a:r>
              <a:t>₺35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12/28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6C6DA"/>
                </a:solidFill>
                <a:latin typeface="Calibri"/>
              </a:defRPr>
            </a:pPr>
            <a:r>
              <a:t>05  GÖZLEMLE MODÜLÜ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Gözlemle: Gizli Müşteri Platformu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İşletmeler hizmet kalitelerini ölçer, kullanıcılar görev tamamlayarak token kazanır.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2560320" cy="3200400"/>
          </a:xfrm>
          <a:prstGeom prst="roundRect">
            <a:avLst/>
          </a:prstGeom>
          <a:solidFill>
            <a:srgbClr val="12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2423160"/>
            <a:ext cx="411480" cy="41148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B1D2E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B300"/>
                </a:solidFill>
                <a:latin typeface="Calibri"/>
              </a:defRPr>
            </a:pPr>
            <a:r>
              <a:t>İşletme Görev Oluşturur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2860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Kategori: hizmet, kalite, hız, temizlik</a:t>
            </a:r>
            <a:br/>
            <a:r>
              <a:t>Ödeme: ₺5.000 (örnek)</a:t>
            </a:r>
            <a:br/>
            <a:r>
              <a:t>Maks tamamlama sayısı belirlenir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286000"/>
            <a:ext cx="2560320" cy="3200400"/>
          </a:xfrm>
          <a:prstGeom prst="roundRect">
            <a:avLst/>
          </a:prstGeom>
          <a:solidFill>
            <a:srgbClr val="12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74720" y="2423160"/>
            <a:ext cx="411480" cy="41148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B1D2E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40" y="246888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B300"/>
                </a:solidFill>
                <a:latin typeface="Calibri"/>
              </a:defRPr>
            </a:pPr>
            <a:r>
              <a:t>Kullanıcı Görevi Alır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017520"/>
            <a:ext cx="22860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Şehrindeki görevleri görür</a:t>
            </a:r>
            <a:br/>
            <a:r>
              <a:t>İşletmeye gider, check-in yapar</a:t>
            </a:r>
            <a:br/>
            <a:r>
              <a:t>GPS konum doğrulaması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286000"/>
            <a:ext cx="2560320" cy="3200400"/>
          </a:xfrm>
          <a:prstGeom prst="roundRect">
            <a:avLst/>
          </a:prstGeom>
          <a:solidFill>
            <a:srgbClr val="12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55080" y="2423160"/>
            <a:ext cx="411480" cy="41148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B1D2E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46888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B300"/>
                </a:solidFill>
                <a:latin typeface="Calibri"/>
              </a:defRPr>
            </a:pPr>
            <a:r>
              <a:t>Denetim Yapar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017520"/>
            <a:ext cx="22860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Adım adım soru yanıtlar</a:t>
            </a:r>
            <a:br/>
            <a:r>
              <a:t>Fotoğraf çeker</a:t>
            </a:r>
            <a:br/>
            <a:r>
              <a:t>Yorum ve puan verir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2286000"/>
            <a:ext cx="2560320" cy="3200400"/>
          </a:xfrm>
          <a:prstGeom prst="roundRect">
            <a:avLst/>
          </a:prstGeom>
          <a:solidFill>
            <a:srgbClr val="12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35440" y="2423160"/>
            <a:ext cx="411480" cy="41148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B1D2E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246888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B300"/>
                </a:solidFill>
                <a:latin typeface="Calibri"/>
              </a:defRPr>
            </a:pPr>
            <a:r>
              <a:t>Ödül Alır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017520"/>
            <a:ext cx="22860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Görev onaylanır</a:t>
            </a:r>
            <a:br/>
            <a:r>
              <a:t>4.000 token kullanıcıya</a:t>
            </a:r>
            <a:br/>
            <a:r>
              <a:t>1.000₺ VITA marjı (%20)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GPS Check-in: Kullanıcı işletmeye fiziksel olarak gitmeden görevi tamamlayamaz. Konum doğrulama zorunlu.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13/28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9688"/>
                </a:solidFill>
                <a:latin typeface="Calibri"/>
              </a:defRPr>
            </a:pPr>
            <a:r>
              <a:t>05  GÖZLEMLE MODÜLÜ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1A2E"/>
                </a:solidFill>
                <a:latin typeface="Georgia"/>
              </a:defRPr>
            </a:pPr>
            <a:r>
              <a:t>Denetim Akışı &amp; Validasyon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Mobil Denetim Deneyimi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02920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4864" cy="7772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84832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Check-in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İşletmeye varış, GPS ile konum doğrulama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80360"/>
            <a:ext cx="502920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80360"/>
            <a:ext cx="54864" cy="7772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53512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Adım 1-N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4612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Her adımda zorunlu sorular, fotoğraf, yorum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49040"/>
            <a:ext cx="502920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749040"/>
            <a:ext cx="54864" cy="7772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22192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Validasyon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1480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İlerleme çubuğu, eksik adım uyarısı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17720"/>
            <a:ext cx="502920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617720"/>
            <a:ext cx="54864" cy="7772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690872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Gönderim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8348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Minimum %30 tamamlanma + check-in zorunlu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486400"/>
            <a:ext cx="502920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486400"/>
            <a:ext cx="54864" cy="7772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559552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Onay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85216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İşletme/admin onayı sonrası token ödeme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Denetim Kategorileri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2011680"/>
            <a:ext cx="50292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2011680"/>
            <a:ext cx="54864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2121408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09688"/>
                </a:solidFill>
                <a:latin typeface="Calibri"/>
              </a:defRPr>
            </a:pPr>
            <a:r>
              <a:t>Hizmet Kalitesi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24688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Personel davranışı, ilgi, profesyonellik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108960"/>
            <a:ext cx="50292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3108960"/>
            <a:ext cx="54864" cy="10058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3218688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2ECC71"/>
                </a:solidFill>
                <a:latin typeface="Calibri"/>
              </a:defRPr>
            </a:pPr>
            <a:r>
              <a:t>Temizlik &amp; Hijyen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35661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Mekan temizliği, düzen, hijyen standartları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206240"/>
            <a:ext cx="50292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4206240"/>
            <a:ext cx="54864" cy="100584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4315968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26C6DA"/>
                </a:solidFill>
                <a:latin typeface="Calibri"/>
              </a:defRPr>
            </a:pPr>
            <a:r>
              <a:t>Hız &amp; Verimlilik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46634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Bekleme süresi, sipariş hızı, akış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5303520"/>
            <a:ext cx="50292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0" y="5303520"/>
            <a:ext cx="54864" cy="10058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5413248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FB300"/>
                </a:solidFill>
                <a:latin typeface="Calibri"/>
              </a:defRPr>
            </a:pPr>
            <a:r>
              <a:t>Genel Değerlendirme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57607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Memnuniyet, fiyat-performans, atmosfer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14/28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6C6DA"/>
                </a:solidFill>
                <a:latin typeface="Calibri"/>
              </a:defRPr>
            </a:pPr>
            <a:r>
              <a:t>06  NEARBYME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NearbyMe: Konum Bazlı Sosyal Keşif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Çevrenizdeki insanları keşfedin, bağlantı kurun, networking yapın.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2560320" cy="3200400"/>
          </a:xfrm>
          <a:prstGeom prst="roundRect">
            <a:avLst/>
          </a:prstGeom>
          <a:solidFill>
            <a:srgbClr val="12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25603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7C3AED"/>
                </a:solidFill>
                <a:latin typeface="Calibri"/>
              </a:defRPr>
            </a:pPr>
            <a:r>
              <a:t>Check-in &amp; Keşif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219456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GPS ile konumunuzu paylaşın</a:t>
            </a:r>
            <a:br/>
            <a:r>
              <a:t>Yakınlarınızdaki aktif kullanıcıları görün</a:t>
            </a:r>
            <a:br/>
            <a:r>
              <a:t>Haversine formülü ile mesafe hesabı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286000"/>
            <a:ext cx="2560320" cy="3200400"/>
          </a:xfrm>
          <a:prstGeom prst="roundRect">
            <a:avLst/>
          </a:prstGeom>
          <a:solidFill>
            <a:srgbClr val="12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286000"/>
            <a:ext cx="2560320" cy="54864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56032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6C6DA"/>
                </a:solidFill>
                <a:latin typeface="Calibri"/>
              </a:defRPr>
            </a:pPr>
            <a:r>
              <a:t>Niyet Filtreleme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108960"/>
            <a:ext cx="219456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Networking: İş bağlantıları</a:t>
            </a:r>
            <a:br/>
            <a:r>
              <a:t>Sohbet: Sosyal tanışma</a:t>
            </a:r>
            <a:br/>
            <a:r>
              <a:t>Aktivite: Ortak etkinlik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286000"/>
            <a:ext cx="2560320" cy="3200400"/>
          </a:xfrm>
          <a:prstGeom prst="roundRect">
            <a:avLst/>
          </a:prstGeom>
          <a:solidFill>
            <a:srgbClr val="12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286000"/>
            <a:ext cx="25603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56032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Eşleşme &amp; Chat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108960"/>
            <a:ext cx="219456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Bağlantı isteği gönder/kabul et</a:t>
            </a:r>
            <a:br/>
            <a:r>
              <a:t>Anlık mesajlaşma</a:t>
            </a:r>
            <a:br/>
            <a:r>
              <a:t>Okundu bilgisi takibi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2286000"/>
            <a:ext cx="2560320" cy="3200400"/>
          </a:xfrm>
          <a:prstGeom prst="roundRect">
            <a:avLst/>
          </a:prstGeom>
          <a:solidFill>
            <a:srgbClr val="12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2286000"/>
            <a:ext cx="2560320" cy="54864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256032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B300"/>
                </a:solidFill>
                <a:latin typeface="Calibri"/>
              </a:defRPr>
            </a:pPr>
            <a:r>
              <a:t>Profil &amp; Fotoğraf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3108960"/>
            <a:ext cx="219456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Kamera veya galeri ile fotoğraf</a:t>
            </a:r>
            <a:br/>
            <a:r>
              <a:t>Profil düzenleme</a:t>
            </a:r>
            <a:br/>
            <a:r>
              <a:t>Avatar ve görüntü adı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760720"/>
            <a:ext cx="10881360" cy="731520"/>
          </a:xfrm>
          <a:prstGeom prst="roundRect">
            <a:avLst/>
          </a:prstGeom>
          <a:solidFill>
            <a:srgbClr val="12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Potansiyel Premium Üyelik: NearbyMe modülü için aylık abonelik planı değerlendiriliyor. Bu durumda Apple IAP entegrasyonu gerekecektir.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15/28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9688"/>
                </a:solidFill>
                <a:latin typeface="Calibri"/>
              </a:defRPr>
            </a:pPr>
            <a:r>
              <a:t>07  VITA İŞ İLANLARI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1A2E"/>
                </a:solidFill>
                <a:latin typeface="Georgia"/>
              </a:defRPr>
            </a:pPr>
            <a:r>
              <a:t>VITA İş İlanları: Gig Ekonomisi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6B7B8D"/>
                </a:solidFill>
                <a:latin typeface="Calibri"/>
              </a:defRPr>
            </a:pPr>
            <a:r>
              <a:t>Mikro görevler ve esnek çalışma fırsatları. Token bazlı ödeme sistemi.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25603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256032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09688"/>
                </a:solidFill>
                <a:latin typeface="Calibri"/>
              </a:defRPr>
            </a:pPr>
            <a:r>
              <a:t>İş Kategorileri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219456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Kurye, temizlik, taşıma, asistan</a:t>
            </a:r>
            <a:br/>
            <a:r>
              <a:t>her kategori emoji ve renk ile</a:t>
            </a:r>
            <a:br/>
            <a:r>
              <a:t>ayrıştırılmış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103120"/>
            <a:ext cx="25603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103120"/>
            <a:ext cx="2560320" cy="54864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3774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6C6DA"/>
                </a:solidFill>
                <a:latin typeface="Calibri"/>
              </a:defRPr>
            </a:pPr>
            <a:r>
              <a:t>Konum Bazlı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926080"/>
            <a:ext cx="219456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Harita üzerinde yakınlardaki</a:t>
            </a:r>
            <a:br/>
            <a:r>
              <a:t>iş ilanlarını gör</a:t>
            </a:r>
            <a:br/>
            <a:r>
              <a:t>Adres ve koordinat bilgisi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103120"/>
            <a:ext cx="25603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103120"/>
            <a:ext cx="2560320" cy="54864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3774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B300"/>
                </a:solidFill>
                <a:latin typeface="Calibri"/>
              </a:defRPr>
            </a:pPr>
            <a:r>
              <a:t>Token Ödeme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26080"/>
            <a:ext cx="219456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Sabit veya saatlik bütçe</a:t>
            </a:r>
            <a:br/>
            <a:r>
              <a:t>Escrow (emanet) sistemi</a:t>
            </a:r>
            <a:br/>
            <a:r>
              <a:t>İş bitiminde otomatik ödeme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2103120"/>
            <a:ext cx="25603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2103120"/>
            <a:ext cx="25603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23774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Değerlendirme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926080"/>
            <a:ext cx="219456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1-5 yıldız puanlama</a:t>
            </a:r>
            <a:br/>
            <a:r>
              <a:t>Çift taraflı değerlendirme</a:t>
            </a:r>
            <a:br/>
            <a:r>
              <a:t>Repütasyon sistemi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Akış: İlan ver → Başvuru al → İşçi seç → İş tamamla → Token öde → Karşılıklı değerlendir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16/28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9688"/>
                </a:solidFill>
                <a:latin typeface="Calibri"/>
              </a:defRPr>
            </a:pPr>
            <a:r>
              <a:t>08  GRUP HEDİYE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1A2E"/>
                </a:solidFill>
                <a:latin typeface="Georgia"/>
              </a:defRPr>
            </a:pPr>
            <a:r>
              <a:t>Grup Hediye: Kolektif Organizasyon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56032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4864" cy="29260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828800"/>
            <a:ext cx="365760" cy="3657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Organizatör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219456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Grup oluştur</a:t>
            </a:r>
            <a:br/>
            <a:r>
              <a:t>Etkinlik türü seç</a:t>
            </a:r>
            <a:br/>
            <a:r>
              <a:t>(Doğum günü, Anneler Günü...)</a:t>
            </a:r>
            <a:br/>
            <a:r>
              <a:t>Hedef tutar belirle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645920"/>
            <a:ext cx="256032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645920"/>
            <a:ext cx="54864" cy="29260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20440" y="1828800"/>
            <a:ext cx="365760" cy="3657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40" y="182880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Davet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77440"/>
            <a:ext cx="219456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Arkadaşlarını ekle</a:t>
            </a:r>
            <a:br/>
            <a:r>
              <a:t>Katkı payı belirle</a:t>
            </a:r>
            <a:br/>
            <a:r>
              <a:t>Kayıtlı/kayıtsız davet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256032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645920"/>
            <a:ext cx="54864" cy="29260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828800"/>
            <a:ext cx="365760" cy="3657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82880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Toplama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77440"/>
            <a:ext cx="219456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Katkılar toplanır</a:t>
            </a:r>
            <a:br/>
            <a:r>
              <a:t>İlerleme takibi</a:t>
            </a:r>
            <a:br/>
            <a:r>
              <a:t>Ödeme durumu anlık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645920"/>
            <a:ext cx="256032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1645920"/>
            <a:ext cx="54864" cy="29260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81160" y="1828800"/>
            <a:ext cx="365760" cy="3657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182880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Gönderim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377440"/>
            <a:ext cx="219456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Hedef tutara ulaşılınca</a:t>
            </a:r>
            <a:br/>
            <a:r>
              <a:t>otomatik sertifika oluşturulur</a:t>
            </a:r>
            <a:br/>
            <a:r>
              <a:t>Alıcıya bildirim gider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8463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Kullanım Senaryoları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303520"/>
            <a:ext cx="25603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39496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6B6B"/>
                </a:solidFill>
                <a:latin typeface="Calibri"/>
              </a:defRPr>
            </a:pPr>
            <a:r>
              <a:t>Doğum Günü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71500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Arkadaş grubunun</a:t>
            </a:r>
            <a:br/>
            <a:r>
              <a:t>ortak hediye</a:t>
            </a:r>
            <a:br/>
            <a:r>
              <a:t>organizasyonu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37560" y="5303520"/>
            <a:ext cx="25603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539496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6B6B"/>
                </a:solidFill>
                <a:latin typeface="Calibri"/>
              </a:defRPr>
            </a:pPr>
            <a:r>
              <a:t>Anneler Günü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571500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Kardeşlerin anneye</a:t>
            </a:r>
            <a:br/>
            <a:r>
              <a:t>ortak sertifika</a:t>
            </a:r>
            <a:br/>
            <a:r>
              <a:t>göndermesi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5303520"/>
            <a:ext cx="25603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539496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6B6B"/>
                </a:solidFill>
                <a:latin typeface="Calibri"/>
              </a:defRPr>
            </a:pPr>
            <a:r>
              <a:t>Düğün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571500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Çevrenin çifte</a:t>
            </a:r>
            <a:br/>
            <a:r>
              <a:t>kolektif hediye</a:t>
            </a:r>
            <a:br/>
            <a:r>
              <a:t>çeki göndermesi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98280" y="5303520"/>
            <a:ext cx="25603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539496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6B6B"/>
                </a:solidFill>
                <a:latin typeface="Calibri"/>
              </a:defRPr>
            </a:pPr>
            <a:r>
              <a:t>İş Hediyesi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571500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Ekibin çalışana</a:t>
            </a:r>
            <a:br/>
            <a:r>
              <a:t>veda/tebrik</a:t>
            </a:r>
            <a:br/>
            <a:r>
              <a:t>hediyesi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17/28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9688"/>
                </a:solidFill>
                <a:latin typeface="Calibri"/>
              </a:defRPr>
            </a:pPr>
            <a:r>
              <a:t>09  İŞLETME EKOSİSTEMİ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1A2E"/>
                </a:solidFill>
                <a:latin typeface="Georgia"/>
              </a:defRPr>
            </a:pPr>
            <a:r>
              <a:t>İşletme Ekosistemi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İşletme Kategorileri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0292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Restoran &amp; Kafe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14884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300" b="1">
                <a:solidFill>
                  <a:srgbClr val="009688"/>
                </a:solidFill>
                <a:latin typeface="Calibri"/>
              </a:defRPr>
            </a:pPr>
            <a:r>
              <a:t>%5-7 komisyon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70048"/>
            <a:ext cx="50292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07208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Spa &amp; Güzellik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807208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300" b="1">
                <a:solidFill>
                  <a:srgbClr val="009688"/>
                </a:solidFill>
                <a:latin typeface="Calibri"/>
              </a:defRPr>
            </a:pPr>
            <a:r>
              <a:t>%7-10 komisyon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28416"/>
            <a:ext cx="50292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65576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Klinik &amp; Sağlık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465576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300" b="1">
                <a:solidFill>
                  <a:srgbClr val="009688"/>
                </a:solidFill>
                <a:latin typeface="Calibri"/>
              </a:defRPr>
            </a:pPr>
            <a:r>
              <a:t>%5-7 komisyon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86784"/>
            <a:ext cx="50292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23944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Elektronik &amp; Teknoloji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123944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300" b="1">
                <a:solidFill>
                  <a:srgbClr val="009688"/>
                </a:solidFill>
                <a:latin typeface="Calibri"/>
              </a:defRPr>
            </a:pPr>
            <a:r>
              <a:t>%3-5 komisyon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45152"/>
            <a:ext cx="50292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78231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Spor &amp; Fitness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78231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300" b="1">
                <a:solidFill>
                  <a:srgbClr val="009688"/>
                </a:solidFill>
                <a:latin typeface="Calibri"/>
              </a:defRPr>
            </a:pPr>
            <a:r>
              <a:t>%5-7 komisyon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303520"/>
            <a:ext cx="50292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44068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AVM &amp; Perakende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44068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300" b="1">
                <a:solidFill>
                  <a:srgbClr val="009688"/>
                </a:solidFill>
                <a:latin typeface="Calibri"/>
              </a:defRPr>
            </a:pPr>
            <a:r>
              <a:t>%5-7 komisyon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İşletme Paneli Özellikleri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011680"/>
            <a:ext cx="50292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2011680"/>
            <a:ext cx="54864" cy="59436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2148840"/>
            <a:ext cx="4663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468880"/>
            <a:ext cx="4663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KPI'lar, günlük/aylık özet, gelir grafiği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670048"/>
            <a:ext cx="50292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2670048"/>
            <a:ext cx="54864" cy="59436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2807208"/>
            <a:ext cx="4663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Cari Hesap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127248"/>
            <a:ext cx="4663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Borç/alacak takibi, bakiye raporlama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3328416"/>
            <a:ext cx="50292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3328416"/>
            <a:ext cx="54864" cy="59436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3465576"/>
            <a:ext cx="4663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Yerleşimler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3785616"/>
            <a:ext cx="4663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T+1 otomatik ödeme, banka hesap yönetimi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3986784"/>
            <a:ext cx="50292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0" y="3986784"/>
            <a:ext cx="54864" cy="59436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4123944"/>
            <a:ext cx="4663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QR Tarama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443984"/>
            <a:ext cx="4663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Sertifika ve token QR doğrulama, onay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4645152"/>
            <a:ext cx="50292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0" y="4645152"/>
            <a:ext cx="54864" cy="59436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4782312"/>
            <a:ext cx="4663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Şube Yönetimi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5102352"/>
            <a:ext cx="4663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Çoklu lokasyon, şube bazlı raporlama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0" y="5303520"/>
            <a:ext cx="50292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00800" y="5303520"/>
            <a:ext cx="54864" cy="59436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29400" y="5440680"/>
            <a:ext cx="4663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Kart Şablonları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9400" y="5760720"/>
            <a:ext cx="4663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Farklı tutarlarda hediye kartı şablonları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18/28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9688"/>
                </a:solidFill>
                <a:latin typeface="Calibri"/>
              </a:defRPr>
            </a:pPr>
            <a:r>
              <a:t>09  İŞLETME EKOSİSTEMİ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1A2E"/>
                </a:solidFill>
                <a:latin typeface="Georgia"/>
              </a:defRPr>
            </a:pPr>
            <a:r>
              <a:t>T+1 Hesap Yerleşimi (Settlement)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Günlük Toplu Ödeme Süreci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25603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256032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9688"/>
                </a:solidFill>
                <a:latin typeface="Calibri"/>
              </a:defRPr>
            </a:pPr>
            <a:r>
              <a:t>GÜN 1</a:t>
            </a:r>
            <a:br/>
            <a:r>
              <a:t>Gün Boyunca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26080"/>
            <a:ext cx="228600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Kullanıcılar sertifika kullanır</a:t>
            </a:r>
            <a:br/>
            <a:r>
              <a:t>Tek tek settlement kaydı oluşur</a:t>
            </a:r>
            <a:br/>
            <a:r>
              <a:t>Status: pending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3291840"/>
            <a:ext cx="228600" cy="36576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7560" y="2103120"/>
            <a:ext cx="25603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2103120"/>
            <a:ext cx="2560320" cy="54864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28600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6C6DA"/>
                </a:solidFill>
                <a:latin typeface="Calibri"/>
              </a:defRPr>
            </a:pPr>
            <a:r>
              <a:t>GÜN 1</a:t>
            </a:r>
            <a:br/>
            <a:r>
              <a:t>Akşam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926080"/>
            <a:ext cx="228600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Batch hazırlama çalışır</a:t>
            </a:r>
            <a:br/>
            <a:r>
              <a:t>İşletme bazlı gruplama</a:t>
            </a:r>
            <a:br/>
            <a:r>
              <a:t>Ledger kaydı oluşturulur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3291840"/>
            <a:ext cx="228600" cy="36576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2103120"/>
            <a:ext cx="25603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103120"/>
            <a:ext cx="2560320" cy="54864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28600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B300"/>
                </a:solidFill>
                <a:latin typeface="Calibri"/>
              </a:defRPr>
            </a:pPr>
            <a:r>
              <a:t>GÜN 2</a:t>
            </a:r>
            <a:br/>
            <a:r>
              <a:t>Sabah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26080"/>
            <a:ext cx="228600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Admin toplu ödemeyi tetikler</a:t>
            </a:r>
            <a:br/>
            <a:r>
              <a:t>PSP API çağrısı yapılır</a:t>
            </a:r>
            <a:br/>
            <a:r>
              <a:t>Banka transferi başlar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23960" y="3291840"/>
            <a:ext cx="228600" cy="36576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98280" y="2103120"/>
            <a:ext cx="25603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8280" y="2103120"/>
            <a:ext cx="25603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228600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ECC71"/>
                </a:solidFill>
                <a:latin typeface="Calibri"/>
              </a:defRPr>
            </a:pPr>
            <a:r>
              <a:t>GÜN 2</a:t>
            </a:r>
            <a:br/>
            <a:r>
              <a:t>Tamamlanma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926080"/>
            <a:ext cx="228600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Ödeme onaylanır</a:t>
            </a:r>
            <a:br/>
            <a:r>
              <a:t>Batch: completed</a:t>
            </a:r>
            <a:br/>
            <a:r>
              <a:t>Cari hesap güncellenir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8463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Cari Hesap (Ledger) Örneği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257800"/>
            <a:ext cx="10881360" cy="3657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303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İşlem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303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Tür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303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Tutar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5303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Bakiye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623560"/>
            <a:ext cx="1088136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650992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Gün 1 - 12 işlem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5650992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Borç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650992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009688"/>
                </a:solidFill>
                <a:latin typeface="Calibri"/>
              </a:defRPr>
            </a:pPr>
            <a:r>
              <a:t>₺5.580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5650992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009688"/>
                </a:solidFill>
                <a:latin typeface="Calibri"/>
              </a:defRPr>
            </a:pPr>
            <a:r>
              <a:t>₺5.580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971032"/>
            <a:ext cx="1088136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998464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Gün 2 - Batch ödeme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5998464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Alacak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998464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ECC71"/>
                </a:solidFill>
                <a:latin typeface="Calibri"/>
              </a:defRPr>
            </a:pPr>
            <a:r>
              <a:t>₺5.580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5998464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₺0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6318504"/>
            <a:ext cx="1088136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6345936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Gün 2 - 8 yeni işlem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345936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Borç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345936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009688"/>
                </a:solidFill>
                <a:latin typeface="Calibri"/>
              </a:defRPr>
            </a:pPr>
            <a:r>
              <a:t>₺3.040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6345936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009688"/>
                </a:solidFill>
                <a:latin typeface="Calibri"/>
              </a:defRPr>
            </a:pPr>
            <a:r>
              <a:t>₺3.040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19/28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6C6DA"/>
                </a:solidFill>
                <a:latin typeface="Calibri"/>
              </a:defRPr>
            </a:pPr>
            <a:r>
              <a:t>10  İŞ MODELİ &amp; GELİR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İş Modeli &amp; Gelir Kaynakları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560320" cy="3200400"/>
          </a:xfrm>
          <a:prstGeom prst="roundRect">
            <a:avLst/>
          </a:prstGeom>
          <a:solidFill>
            <a:srgbClr val="12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2560320" cy="54864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FB300"/>
                </a:solidFill>
                <a:latin typeface="Calibri"/>
              </a:defRPr>
            </a:pPr>
            <a:r>
              <a:t>%5-10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Sertifika Komisyonu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219456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Her sertifika kullanımından</a:t>
            </a:r>
            <a:br/>
            <a:r>
              <a:t>işletme komisyon oranına göre</a:t>
            </a:r>
            <a:br/>
            <a:r>
              <a:t>gelir. Ana gelir kaynağı.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645920"/>
            <a:ext cx="2560320" cy="3200400"/>
          </a:xfrm>
          <a:prstGeom prst="roundRect">
            <a:avLst/>
          </a:prstGeom>
          <a:solidFill>
            <a:srgbClr val="12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645920"/>
            <a:ext cx="2560320" cy="54864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92024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26C6DA"/>
                </a:solidFill>
                <a:latin typeface="Calibri"/>
              </a:defRPr>
            </a:pPr>
            <a:r>
              <a:t>%5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56032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Token Ödeme Komisyonu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108960"/>
            <a:ext cx="219456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QR ile token ödemelerden</a:t>
            </a:r>
            <a:br/>
            <a:r>
              <a:t>işletme bazlı komisyon.</a:t>
            </a:r>
            <a:br/>
            <a:r>
              <a:t>Düşük oran, yüksek hacim.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2560320" cy="3200400"/>
          </a:xfrm>
          <a:prstGeom prst="roundRect">
            <a:avLst/>
          </a:prstGeom>
          <a:solidFill>
            <a:srgbClr val="12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645920"/>
            <a:ext cx="25603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2024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2ECC71"/>
                </a:solidFill>
                <a:latin typeface="Calibri"/>
              </a:defRPr>
            </a:pPr>
            <a:r>
              <a:t>%20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2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Gözlemle Marjı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08960"/>
            <a:ext cx="219456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İşletme ödeme yapar,</a:t>
            </a:r>
            <a:br/>
            <a:r>
              <a:t>kullanıcıya token verilir.</a:t>
            </a:r>
            <a:br/>
            <a:r>
              <a:t>Aradaki fark VITA geliri.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645920"/>
            <a:ext cx="2560320" cy="3200400"/>
          </a:xfrm>
          <a:prstGeom prst="roundRect">
            <a:avLst/>
          </a:prstGeom>
          <a:solidFill>
            <a:srgbClr val="12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1645920"/>
            <a:ext cx="25603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192024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7C3AED"/>
                </a:solidFill>
                <a:latin typeface="Calibri"/>
              </a:defRPr>
            </a:pPr>
            <a:r>
              <a:t>Aylık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56032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NearbyMe Premium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3108960"/>
            <a:ext cx="219456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Potansiyel abonelik geliri.</a:t>
            </a:r>
            <a:br/>
            <a:r>
              <a:t>Premium özellikler ve</a:t>
            </a:r>
            <a:br/>
            <a:r>
              <a:t>sınırsız eşleşme.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212080"/>
            <a:ext cx="10881360" cy="1280160"/>
          </a:xfrm>
          <a:prstGeom prst="roundRect">
            <a:avLst/>
          </a:prstGeom>
          <a:solidFill>
            <a:srgbClr val="12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492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B300"/>
                </a:solidFill>
                <a:latin typeface="Calibri"/>
              </a:defRPr>
            </a:pPr>
            <a:r>
              <a:t>Ödeme Altyapısı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76072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iyzico: Fiziksel hizmet ödemeleri (sertifika satışı)</a:t>
            </a:r>
            <a:br/>
            <a:r>
              <a:t>Apple komisyonu yok — fiziksel mal/hizmet muafiyeti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3492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6C6DA"/>
                </a:solidFill>
                <a:latin typeface="Calibri"/>
              </a:defRPr>
            </a:pPr>
            <a:r>
              <a:t>Apple IAP (Potansiyel)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76072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Sadece NearbyMe premium üyelik için</a:t>
            </a:r>
            <a:br/>
            <a:r>
              <a:t>%15-30 Apple komisyonu uygulanır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20/28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9688"/>
                </a:solidFill>
                <a:latin typeface="Calibri"/>
              </a:defRPr>
            </a:pPr>
            <a:r>
              <a:t>10  İŞ MODELİ &amp; GELİR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1A2E"/>
                </a:solidFill>
                <a:latin typeface="Georgia"/>
              </a:defRPr>
            </a:pPr>
            <a:r>
              <a:t>Gelir Projeksiyonu (Örnek Senaryo)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Varsayımlar: 10.000 aktif kullanıcı, 100 partner işletme, ortalama %7 komisyon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22860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009688"/>
                </a:solidFill>
                <a:latin typeface="Calibri"/>
              </a:defRPr>
            </a:pPr>
            <a:r>
              <a:t>₺2.5M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B7B8D"/>
                </a:solidFill>
                <a:latin typeface="Calibri"/>
              </a:defRPr>
            </a:pPr>
            <a:r>
              <a:t>Aylık Sertifika Hacmi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011680"/>
            <a:ext cx="22860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214884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FFB300"/>
                </a:solidFill>
                <a:latin typeface="Calibri"/>
              </a:defRPr>
            </a:pPr>
            <a:r>
              <a:t>₺175K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88036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B7B8D"/>
                </a:solidFill>
                <a:latin typeface="Calibri"/>
              </a:defRPr>
            </a:pPr>
            <a:r>
              <a:t>Aylık Komisyon Geliri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2011680"/>
            <a:ext cx="22860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214884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2ECC71"/>
                </a:solidFill>
                <a:latin typeface="Calibri"/>
              </a:defRPr>
            </a:pPr>
            <a:r>
              <a:t>₺50K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88036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B7B8D"/>
                </a:solidFill>
                <a:latin typeface="Calibri"/>
              </a:defRPr>
            </a:pPr>
            <a:r>
              <a:t>Gözlemle Marjı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2011680"/>
            <a:ext cx="22860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2520" y="214884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009688"/>
                </a:solidFill>
                <a:latin typeface="Calibri"/>
              </a:defRPr>
            </a:pPr>
            <a:r>
              <a:t>₺225K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288036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B7B8D"/>
                </a:solidFill>
                <a:latin typeface="Calibri"/>
              </a:defRPr>
            </a:pPr>
            <a:r>
              <a:t>Toplam Aylık Gelir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319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Büyüme Senaryoları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4480560"/>
            <a:ext cx="914400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52628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Dönem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52628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Kullanıcı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52628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İşletme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52628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Tahmini Gelir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71600" y="4983480"/>
            <a:ext cx="91440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5056632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Yıl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5056632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10K kullanıcı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056632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100 işletme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056632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9688"/>
                </a:solidFill>
                <a:latin typeface="Calibri"/>
              </a:defRPr>
            </a:pPr>
            <a:r>
              <a:t>₺2.7M/yıl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71600" y="5486400"/>
            <a:ext cx="9144000" cy="4572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54480" y="5559552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Yıl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5559552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50K kullanıcı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5559552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500 işletme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5559552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9688"/>
                </a:solidFill>
                <a:latin typeface="Calibri"/>
              </a:defRPr>
            </a:pPr>
            <a:r>
              <a:t>₺13.5M/yıl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71600" y="5989320"/>
            <a:ext cx="91440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54480" y="6062472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Yıl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6062472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200K kullanıcı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6062472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2.000 işletme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6062472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9688"/>
                </a:solidFill>
                <a:latin typeface="Calibri"/>
              </a:defRPr>
            </a:pPr>
            <a:r>
              <a:t>₺54M/yıl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21/28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6C6DA"/>
                </a:solidFill>
                <a:latin typeface="Calibri"/>
              </a:defRPr>
            </a:pPr>
            <a:r>
              <a:t>11  TEKNİK ALTYAPI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Teknik Mimari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560320" cy="4114800"/>
          </a:xfrm>
          <a:prstGeom prst="roundRect">
            <a:avLst/>
          </a:prstGeom>
          <a:solidFill>
            <a:srgbClr val="12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256032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09688"/>
                </a:solidFill>
                <a:latin typeface="Calibri"/>
              </a:defRPr>
            </a:pPr>
            <a:r>
              <a:t>Frontend (Mobil)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React Native + Expo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iOS &amp; Android tek kod tabanı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TypeScript type 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Expo EAS build &amp; 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4904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TestFlight &amp; APK dağıtım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645920"/>
            <a:ext cx="2560320" cy="4114800"/>
          </a:xfrm>
          <a:prstGeom prst="roundRect">
            <a:avLst/>
          </a:prstGeom>
          <a:solidFill>
            <a:srgbClr val="12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645920"/>
            <a:ext cx="2560320" cy="54864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9202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6C6DA"/>
                </a:solidFill>
                <a:latin typeface="Calibri"/>
              </a:defRPr>
            </a:pPr>
            <a:r>
              <a:t>Backend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46888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Node.js + Express.js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78892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Prisma ORM (type-safe)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10896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JWT kimlik doğrulama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4290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Zod şema validasyonu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74904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Rate limiting (katmanlı)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645920"/>
            <a:ext cx="2560320" cy="4114800"/>
          </a:xfrm>
          <a:prstGeom prst="roundRect">
            <a:avLst/>
          </a:prstGeom>
          <a:solidFill>
            <a:srgbClr val="12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645920"/>
            <a:ext cx="2560320" cy="54864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9202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B300"/>
                </a:solidFill>
                <a:latin typeface="Calibri"/>
              </a:defRPr>
            </a:pPr>
            <a:r>
              <a:t>Veritabanı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6888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PostgreSQL (Render.com)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78892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31 veri modeli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10896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Atomik transaction desteği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4290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Unique constraint koruması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74904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Foreign key cascade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98280" y="1645920"/>
            <a:ext cx="2560320" cy="4114800"/>
          </a:xfrm>
          <a:prstGeom prst="roundRect">
            <a:avLst/>
          </a:prstGeom>
          <a:solidFill>
            <a:srgbClr val="12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98280" y="1645920"/>
            <a:ext cx="25603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81160" y="19202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Altyapı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246888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Render.com (PaaS)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278892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GitHub auto-deploy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310896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Frankfurt region (EU)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34290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SSL/TLS şifreleme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374904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Structured logging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22/28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9688"/>
                </a:solidFill>
                <a:latin typeface="Calibri"/>
              </a:defRPr>
            </a:pPr>
            <a:r>
              <a:t>11  TEKNİK ALTYAPI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1A2E"/>
                </a:solidFill>
                <a:latin typeface="Georgia"/>
              </a:defRPr>
            </a:pPr>
            <a:r>
              <a:t>Güvenlik &amp; Bütünlük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5603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256032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09688"/>
                </a:solidFill>
                <a:latin typeface="Calibri"/>
              </a:defRPr>
            </a:pPr>
            <a:r>
              <a:t>Kimlik Doğrulama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  JWT token tabanlı kimlik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  bcrypt ile şifre hash'leme (10 round)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  Brute-force koruması (5 deneme, 15 dk kilitlenme)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  Opsiyonel biyometrik giriş desteği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645920"/>
            <a:ext cx="25603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645920"/>
            <a:ext cx="2560320" cy="54864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9202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6C6DA"/>
                </a:solidFill>
                <a:latin typeface="Calibri"/>
              </a:defRPr>
            </a:pPr>
            <a:r>
              <a:t>İşlem Güvenliği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46888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  HMAC-SHA256 QR kod imzalama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78892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  5 dakika QR geçerlilik süresi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10896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  Nonce ile tekrar kullanım engeli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4290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  Atomik transaction (çift harcama engeli)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645920"/>
            <a:ext cx="25603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645920"/>
            <a:ext cx="2560320" cy="54864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9202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B300"/>
                </a:solidFill>
                <a:latin typeface="Calibri"/>
              </a:defRPr>
            </a:pPr>
            <a:r>
              <a:t>API Güvenliği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46888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  Katmanlı rate limiting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78892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  Auth: 5 istek / 15 dk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10896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  Ödeme: 50 istek / 15 dk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4290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  Genel: 100 istek / 15 dk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1645920"/>
            <a:ext cx="25603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98280" y="1645920"/>
            <a:ext cx="25603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60" y="19202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Veri Bütünlüğü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246888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  Unique constraint korumaları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278892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  Foreign key cascade delete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310896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  Yapısal logging (audit trail)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34290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  Fresh balance check (overdraft engeli)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23/28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9688"/>
                </a:solidFill>
                <a:latin typeface="Calibri"/>
              </a:defRPr>
            </a:pPr>
            <a:r>
              <a:t>12  YOL HARİTASI &amp; VİZYON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1A2E"/>
                </a:solidFill>
                <a:latin typeface="Georgia"/>
              </a:defRPr>
            </a:pPr>
            <a:r>
              <a:t>Mevcut Durum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4747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4747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Tamamlandı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  Token ekonomisi altyapısı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33472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  Sertifika sistemi (satın alma, kullanım, QR)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80944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  Gözlemle modülü (check-in, denetim, validasyon)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28416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  NearbyMe (keşif, eşleşme, chat)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75888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  Referans sistemi (kademe, gizem kutusu)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  T+1 batch settlement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70832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  Admin &amp; merchant panelleri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18304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  iOS TestFlight + Android APK build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645920"/>
            <a:ext cx="34747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60" y="1645920"/>
            <a:ext cx="3474720" cy="54864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82880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B300"/>
                </a:solidFill>
                <a:latin typeface="Calibri"/>
              </a:defRPr>
            </a:pPr>
            <a:r>
              <a:t>Devam Eden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2860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  Arkadaş test geri bildirimleri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33472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  UX iyileştirmeleri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980944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  App Store review hazırlığı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1645920"/>
            <a:ext cx="34747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1645920"/>
            <a:ext cx="3474720" cy="54864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82880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26C6DA"/>
                </a:solidFill>
                <a:latin typeface="Calibri"/>
              </a:defRPr>
            </a:pPr>
            <a:r>
              <a:t>Planlanan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2860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  iyzico ödeme entegrasyonu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633472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  Netgsm SMS doğrulama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980944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  NearbyMe premium üyelik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328416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  Apple IAP (premium için)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675888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  Production build &amp; App Store onayı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24/28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6C6DA"/>
                </a:solidFill>
                <a:latin typeface="Calibri"/>
              </a:defRPr>
            </a:pPr>
            <a:r>
              <a:t>12  YOL HARİTASI &amp; VİZYON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Yol Haritası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560320" cy="4572000"/>
          </a:xfrm>
          <a:prstGeom prst="roundRect">
            <a:avLst/>
          </a:prstGeom>
          <a:solidFill>
            <a:srgbClr val="12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256032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Q2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Lansman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iyzico ödeme entegrasyonu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90672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SMS doğrulama (Netgsm)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38144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App Store &amp; Play Store yayın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85616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İlk 10 partner işletme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33088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Beta kullanıcı programı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645920"/>
            <a:ext cx="2560320" cy="4572000"/>
          </a:xfrm>
          <a:prstGeom prst="roundRect">
            <a:avLst/>
          </a:prstGeom>
          <a:solidFill>
            <a:srgbClr val="12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645920"/>
            <a:ext cx="2560320" cy="54864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182880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26C6DA"/>
                </a:solidFill>
                <a:latin typeface="Calibri"/>
              </a:defRPr>
            </a:pPr>
            <a:r>
              <a:t>Q3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1488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Büyüme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7432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50 partner işletme hedefi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090672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Influencer kampanyaları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438144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NearbyMe premium lansmanı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785616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Gözlemle kurumsal paketler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133088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Şehir genişlemesi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645920"/>
            <a:ext cx="2560320" cy="4572000"/>
          </a:xfrm>
          <a:prstGeom prst="roundRect">
            <a:avLst/>
          </a:prstGeom>
          <a:solidFill>
            <a:srgbClr val="12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645920"/>
            <a:ext cx="2560320" cy="54864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82880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B300"/>
                </a:solidFill>
                <a:latin typeface="Calibri"/>
              </a:defRPr>
            </a:pPr>
            <a:r>
              <a:t>Q4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1488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Ölçekleme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7432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200+ partner işletme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090672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Redis altyapı geçişi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438144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WebSocket gerçek zamanlı chat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785616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Gelişmiş analitik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133088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B2B kurumsal çözümler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1645920"/>
            <a:ext cx="2560320" cy="4572000"/>
          </a:xfrm>
          <a:prstGeom prst="roundRect">
            <a:avLst/>
          </a:prstGeom>
          <a:solidFill>
            <a:srgbClr val="12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98280" y="1645920"/>
            <a:ext cx="25603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81160" y="182880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2027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21488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Genişleme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27432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Yeni şehirler / ülkeler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3090672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Çoklu dil desteği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3438144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API marketplace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3785616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Franchise modeli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4133088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Series A hazırlığı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25/28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9688"/>
                </a:solidFill>
                <a:latin typeface="Calibri"/>
              </a:defRPr>
            </a:pPr>
            <a:r>
              <a:t>12  YOL HARİTASI &amp; VİZYON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1A2E"/>
                </a:solidFill>
                <a:latin typeface="Georgia"/>
              </a:defRPr>
            </a:pPr>
            <a:r>
              <a:t>Hedef Pazar &amp; Rekabet Avantajı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Pazar Büyüklüğü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0292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54864" cy="914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09688"/>
                </a:solidFill>
                <a:latin typeface="Calibri"/>
              </a:defRPr>
            </a:pPr>
            <a: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9456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Türkiye Hediye Kartı Pazarı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51460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~₺50 Milyar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54680"/>
            <a:ext cx="38404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154680"/>
            <a:ext cx="54864" cy="914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27832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09688"/>
                </a:solidFill>
                <a:latin typeface="Calibri"/>
              </a:defRPr>
            </a:pPr>
            <a:r>
              <a:t>SAM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461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Fiziksel Hizmet Sertifikaları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5661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~₺15 Milyar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06240"/>
            <a:ext cx="22860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206240"/>
            <a:ext cx="54864" cy="914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79392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09688"/>
                </a:solidFill>
                <a:latin typeface="Calibri"/>
              </a:defRPr>
            </a:pPr>
            <a:r>
              <a:t>SOM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29768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İlk Yıl Hedef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61772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~₺30 Milyon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Rekabet Avantajları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011680"/>
            <a:ext cx="502920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2011680"/>
            <a:ext cx="54864" cy="7772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148840"/>
            <a:ext cx="4663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Süper Uygulama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468880"/>
            <a:ext cx="4663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Tek uygulamada sertifika + sosyal + gig ekonomisi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880360"/>
            <a:ext cx="502920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2880360"/>
            <a:ext cx="54864" cy="7772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3017520"/>
            <a:ext cx="4663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Token Ekonomisi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337560"/>
            <a:ext cx="4663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Bağımlılık yaratan kazan-harca döngüsü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3749040"/>
            <a:ext cx="502920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3749040"/>
            <a:ext cx="54864" cy="7772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3886200"/>
            <a:ext cx="4663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Fiziksel Hizmet Odağı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4206240"/>
            <a:ext cx="4663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Dijital değil, gerçek hizmetlere yönelik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617720"/>
            <a:ext cx="502920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4617720"/>
            <a:ext cx="54864" cy="7772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4754880"/>
            <a:ext cx="4663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Düşük CAC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5074920"/>
            <a:ext cx="4663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Referans sistemi ile organik büyüme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5486400"/>
            <a:ext cx="502920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5486400"/>
            <a:ext cx="54864" cy="7772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9400" y="5623560"/>
            <a:ext cx="4663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Çift Taraflı Değer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5943600"/>
            <a:ext cx="4663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Hem tüketici hem işletme için fayda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26/28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9688"/>
                </a:solidFill>
                <a:latin typeface="Calibri"/>
              </a:defRPr>
            </a:pPr>
            <a:r>
              <a:t>12  YOL HARİTASI &amp; VİZYON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1A2E"/>
                </a:solidFill>
                <a:latin typeface="Georgia"/>
              </a:defRPr>
            </a:pPr>
            <a:r>
              <a:t>Vizyon: Geleceğin Hizmet Platformu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8813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418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1A1A2E"/>
                </a:solidFill>
                <a:latin typeface="Georgia"/>
              </a:defRPr>
            </a:pPr>
            <a:r>
              <a:t>VITA, fiziksel hizmet sektöründe tüketicileri ve işletmeleri</a:t>
            </a:r>
            <a:br/>
            <a:r>
              <a:t>birleştiren, token ekonomisi ile ödüllendiren ve</a:t>
            </a:r>
            <a:br/>
            <a:r>
              <a:t>herkese değer yaratan bir ekosistem inşa ediyor.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93192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3931920"/>
            <a:ext cx="347472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09688"/>
                </a:solidFill>
                <a:latin typeface="Calibri"/>
              </a:defRPr>
            </a:pPr>
            <a:r>
              <a:t>Tüketiciler İçin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29260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Her yerde geçerli sertifikalar</a:t>
            </a:r>
            <a:br/>
            <a:r>
              <a:t>Görev yaparak kazanç</a:t>
            </a:r>
            <a:br/>
            <a:r>
              <a:t>Sosyal keşif ve networking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393192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3931920"/>
            <a:ext cx="3474720" cy="54864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420624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6C6DA"/>
                </a:solidFill>
                <a:latin typeface="Calibri"/>
              </a:defRPr>
            </a:pPr>
            <a:r>
              <a:t>İşletmeler İçin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4663440"/>
            <a:ext cx="29260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Yeni müşteri kazanımı</a:t>
            </a:r>
            <a:br/>
            <a:r>
              <a:t>Hizmet kalitesi ölçümü</a:t>
            </a:r>
            <a:br/>
            <a:r>
              <a:t>Otomatik yerleşim sistemi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93192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3931920"/>
            <a:ext cx="3474720" cy="54864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420624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B300"/>
                </a:solidFill>
                <a:latin typeface="Calibri"/>
              </a:defRPr>
            </a:pPr>
            <a:r>
              <a:t>Ekosistem İçin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663440"/>
            <a:ext cx="29260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Döngüsel token ekonomisi</a:t>
            </a:r>
            <a:br/>
            <a:r>
              <a:t>Organik büyüme motoru</a:t>
            </a:r>
            <a:br/>
            <a:r>
              <a:t>Veri odaklı içgörüler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27/28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Georgia"/>
              </a:defRPr>
            </a:pPr>
            <a:r>
              <a:t>Neden VITA?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560320" cy="3657600"/>
          </a:xfrm>
          <a:prstGeom prst="roundRect">
            <a:avLst/>
          </a:prstGeom>
          <a:solidFill>
            <a:srgbClr val="12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56032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09688"/>
                </a:solidFill>
                <a:latin typeface="Calibri"/>
              </a:defRPr>
            </a:pPr>
            <a:r>
              <a:t>Büyük Pazar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219456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₺50 Milyar hediye kartı pazarında</a:t>
            </a:r>
            <a:br/>
            <a:r>
              <a:t>fiziksel hizmetlere odaklanan</a:t>
            </a:r>
            <a:br/>
            <a:r>
              <a:t>ilk süper uygulama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645920"/>
            <a:ext cx="2560320" cy="3657600"/>
          </a:xfrm>
          <a:prstGeom prst="roundRect">
            <a:avLst/>
          </a:prstGeom>
          <a:solidFill>
            <a:srgbClr val="12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1645920"/>
            <a:ext cx="2560320" cy="54864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01168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26C6DA"/>
                </a:solidFill>
                <a:latin typeface="Calibri"/>
              </a:defRPr>
            </a:pPr>
            <a:r>
              <a:t>Kanıtlanmış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743200"/>
            <a:ext cx="219456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Çalışan MVP ile test edilmiş</a:t>
            </a:r>
            <a:br/>
            <a:r>
              <a:t>token ekonomisi ve settlement</a:t>
            </a:r>
            <a:br/>
            <a:r>
              <a:t>altyapısı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560320" cy="3657600"/>
          </a:xfrm>
          <a:prstGeom prst="roundRect">
            <a:avLst/>
          </a:prstGeom>
          <a:solidFill>
            <a:srgbClr val="12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2560320" cy="54864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FFB300"/>
                </a:solidFill>
                <a:latin typeface="Calibri"/>
              </a:defRPr>
            </a:pPr>
            <a:r>
              <a:t>Organik Büyüme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43200"/>
            <a:ext cx="219456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Referans sistemi, gamification</a:t>
            </a:r>
            <a:br/>
            <a:r>
              <a:t>ve viral mekanikler ile düşük</a:t>
            </a:r>
            <a:br/>
            <a:r>
              <a:t>müşteri edinme maliyeti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645920"/>
            <a:ext cx="2560320" cy="3657600"/>
          </a:xfrm>
          <a:prstGeom prst="roundRect">
            <a:avLst/>
          </a:prstGeom>
          <a:solidFill>
            <a:srgbClr val="12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1645920"/>
            <a:ext cx="25603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201168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2ECC71"/>
                </a:solidFill>
                <a:latin typeface="Calibri"/>
              </a:defRPr>
            </a:pPr>
            <a:r>
              <a:t>Ölçeklenebilir Gelir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743200"/>
            <a:ext cx="219456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Komisyon bazlı gelir modeli</a:t>
            </a:r>
            <a:br/>
            <a:r>
              <a:t>her yeni işletme ve kullanıcı</a:t>
            </a:r>
            <a:br/>
            <a:r>
              <a:t>ile doğrusal büyüme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0" y="1371600"/>
            <a:ext cx="3931920" cy="20116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0" y="1554480"/>
            <a:ext cx="39319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200" b="1">
                <a:solidFill>
                  <a:srgbClr val="FFFFFF"/>
                </a:solidFill>
                <a:latin typeface="Arial Black"/>
              </a:defRPr>
            </a:pPr>
            <a:r>
              <a:t>VITA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651760"/>
            <a:ext cx="393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B2DFDB"/>
                </a:solidFill>
                <a:latin typeface="Calibri"/>
              </a:defRPr>
            </a:pPr>
            <a:r>
              <a:t>S U P E R A P 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8503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26C6DA"/>
                </a:solidFill>
                <a:latin typeface="Georgia"/>
              </a:defRPr>
            </a:pPr>
            <a:r>
              <a:t>Yaşa. Gözlemle. Kazanç Sağla.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846320"/>
            <a:ext cx="8503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Teşekkürler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486400"/>
            <a:ext cx="8503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6B7B8D"/>
                </a:solidFill>
                <a:latin typeface="Calibri"/>
              </a:defRPr>
            </a:pPr>
            <a:r>
              <a:t>İletişim: easylifegroup.tr@gmail.com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8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B7B8D"/>
                </a:solidFill>
                <a:latin typeface="Calibri"/>
              </a:defRPr>
            </a:pPr>
            <a:r>
              <a:t>VITA SuperApp  |  Platform Tanıtım Sunumu  |  2026  |  Gizli &amp; Özel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